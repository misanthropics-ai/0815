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599e610bdf49d0" /><Relationship Type="http://schemas.openxmlformats.org/officeDocument/2006/relationships/extended-properties" Target="/docProps/app.xml" Id="Rdf97d69b2f9947b8" /><Relationship Type="http://schemas.openxmlformats.org/officeDocument/2006/relationships/officeDocument" Target="/ppt/presentation.xml" Id="Rfc41a7a4adfb40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cce623516e4999"/>
  </p:sldMasterIdLst>
  <p:notesMasterIdLst>
    <p:notesMasterId xmlns:r="http://schemas.openxmlformats.org/officeDocument/2006/relationships" r:id="Raf5b58d6eb5941cf"/>
  </p:notesMasterIdLst>
  <p:sldIdLst>
    <p:sldId xmlns:r="http://schemas.openxmlformats.org/officeDocument/2006/relationships" id="256" r:id="R3aa3d946a8b04df0"/>
    <p:sldId xmlns:r="http://schemas.openxmlformats.org/officeDocument/2006/relationships" id="257" r:id="R8be3fbde67a84432"/>
    <p:sldId xmlns:r="http://schemas.openxmlformats.org/officeDocument/2006/relationships" id="258" r:id="R3f0d5c202028414b"/>
    <p:sldId xmlns:r="http://schemas.openxmlformats.org/officeDocument/2006/relationships" id="259" r:id="Ra060c188e31041a8"/>
    <p:sldId xmlns:r="http://schemas.openxmlformats.org/officeDocument/2006/relationships" id="260" r:id="R6efc08a7600d42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2d2079727f4089" /><Relationship Type="http://schemas.openxmlformats.org/officeDocument/2006/relationships/slideMaster" Target="/ppt/slideMasters/slideMaster1.xml" Id="Rd2cce623516e4999" /><Relationship Type="http://schemas.openxmlformats.org/officeDocument/2006/relationships/notesMaster" Target="/ppt/notesMasters/notesMaster1.xml" Id="Raf5b58d6eb5941cf" /><Relationship Type="http://schemas.openxmlformats.org/officeDocument/2006/relationships/presProps" Target="/ppt/presProps.xml" Id="R4fa863d0c5d047ea" /><Relationship Type="http://schemas.openxmlformats.org/officeDocument/2006/relationships/tableStyles" Target="/ppt/tableStyles.xml" Id="Rdacb29ce8fb34fe4" /><Relationship Type="http://schemas.openxmlformats.org/officeDocument/2006/relationships/slide" Target="/ppt/slides/slide1.xml" Id="R3aa3d946a8b04df0" /><Relationship Type="http://schemas.openxmlformats.org/officeDocument/2006/relationships/slide" Target="/ppt/slides/slide2.xml" Id="R8be3fbde67a84432" /><Relationship Type="http://schemas.openxmlformats.org/officeDocument/2006/relationships/slide" Target="/ppt/slides/slide3.xml" Id="R3f0d5c202028414b" /><Relationship Type="http://schemas.openxmlformats.org/officeDocument/2006/relationships/slide" Target="/ppt/slides/slide4.xml" Id="Ra060c188e31041a8" /><Relationship Type="http://schemas.openxmlformats.org/officeDocument/2006/relationships/slide" Target="/ppt/slides/slide5.xml" Id="R6efc08a7600d42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98e47f3b6f48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2e6910626248ea" /><Relationship Type="http://schemas.openxmlformats.org/officeDocument/2006/relationships/notesMaster" Target="/ppt/notesMasters/notesMaster1.xml" Id="Rf9def00fbc354e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199eee6d7e494d" /><Relationship Type="http://schemas.openxmlformats.org/officeDocument/2006/relationships/notesMaster" Target="/ppt/notesMasters/notesMaster1.xml" Id="R7e55e30011f142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045c9085a45c2" /><Relationship Type="http://schemas.openxmlformats.org/officeDocument/2006/relationships/notesMaster" Target="/ppt/notesMasters/notesMaster1.xml" Id="Rf3041ae053b642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2689b910f2453b" /><Relationship Type="http://schemas.openxmlformats.org/officeDocument/2006/relationships/notesMaster" Target="/ppt/notesMasters/notesMaster1.xml" Id="Raf06b0e454ad4a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bc37e0606c4372" /><Relationship Type="http://schemas.openxmlformats.org/officeDocument/2006/relationships/notesMaster" Target="/ppt/notesMasters/notesMaster1.xml" Id="R9c51e2d24d614e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開場：購物 AI 不會親手摸到產品；它只能根據頁面證據推薦。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現行頁已有肩帶 airflow。診斷鎖定 back support/harness。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https://www.cabinzero.com/products/classic-cabin-backpack-36l</a:t>
            </a:r>
          </a:p>
          <a:p xmlns:a="http://schemas.openxmlformats.org/drawingml/2006/main">
            <a:r>
              <a:t>- https://www.osprey.com/gb/farpoint-40-s26</a:t>
            </a:r>
          </a:p>
          <a:p xmlns:a="http://schemas.openxmlformats.org/drawingml/2006/main">
            <a:r>
              <a:t>- demo/real_products/sources.md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三步對應 Diagnosis、Debate Agent、product versioning + batch。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spec.md sections P2, P3, P6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明說 cached 性質。整合後由 runner 產生 latest.compare.json。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contract-samples/backend/mock_fixtures/response.metrics_compare.json</a:t>
            </a:r>
          </a:p>
          <a:p xmlns:a="http://schemas.openxmlformats.org/drawingml/2006/main">
            <a:r>
              <a:t>- demo/before_after/methodology.md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收尾：可追溯、可辯論、可重跑；未驗證 claim 不能當官方事實。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spec.md</a:t>
            </a:r>
          </a:p>
          <a:p xmlns:a="http://schemas.openxmlformats.org/drawingml/2006/main">
            <a:r>
              <a:t>- demo/real_products/sources.md</a:t>
            </a:r>
          </a:p>
          <a:p xmlns:a="http://schemas.openxmlformats.org/drawingml/2006/main">
            <a:r>
              <a:t>- demo/before_after/methodology.md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bab6af50248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db668a1bf4c0c" /><Relationship Type="http://schemas.openxmlformats.org/officeDocument/2006/relationships/slideLayout" Target="/ppt/slideLayouts/slideLayout1.xml" Id="R381a95a76acc44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a95a76acc44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9fad9d9b44669" /><Relationship Type="http://schemas.openxmlformats.org/officeDocument/2006/relationships/notesSlide" Target="/ppt/notesSlides/notesSlide1.xml" Id="R99ad07826e7846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b47b4c1524e7f" /><Relationship Type="http://schemas.openxmlformats.org/officeDocument/2006/relationships/notesSlide" Target="/ppt/notesSlides/notesSlide2.xml" Id="R73d2a8e2c5254c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e1933701b4701" /><Relationship Type="http://schemas.openxmlformats.org/officeDocument/2006/relationships/notesSlide" Target="/ppt/notesSlides/notesSlide3.xml" Id="Rfdbdd4635eb240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06a4bc5f74332" /><Relationship Type="http://schemas.openxmlformats.org/officeDocument/2006/relationships/chart" Target="/ppt/slides/charts/chart1.xml" Id="Rb5e818bdecde4d3e" /><Relationship Type="http://schemas.openxmlformats.org/officeDocument/2006/relationships/notesSlide" Target="/ppt/notesSlides/notesSlide4.xml" Id="R5f34f108c7d54d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682b2731c4ccf" /><Relationship Type="http://schemas.openxmlformats.org/officeDocument/2006/relationships/notesSlide" Target="/ppt/notesSlides/notesSlide5.xml" Id="Re1152a7c503745b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Recommendation share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Before · v1</c:v>
              </c:pt>
              <c:pt idx="1">
                <c:v>After · v2</c:v>
              </c:pt>
            </c:strLit>
          </c:cat>
          <c:val>
            <c:numLit>
              <c:formatCode>General</c:formatCode>
              <c:ptCount val="2"/>
              <c:pt idx="0">
                <c:v>12</c:v>
              </c:pt>
              <c:pt idx="1">
                <c:v>55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6F68FED-209C-4496-B08A-8CD0C4E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AI PURCHASE DECISION INTELLIGENCE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7D20772-BBB0-4368-9D83-E38BD15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981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讓品牌看見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AI 為什麼不推薦它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4F6FCB7-37CB-4F6B-B0EB-613A37C7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847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診斷缺口、據理辯論、改寫證據，再用同一批購物意圖重跑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DE5FE62F-F991-402C-AA0D-2614169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2E24047C-B20B-4B8C-91E2-E6C30544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LIVE DEMO · 4 REAL PRODUCTS · CONTROLLED BEFORE/AFTER</a:t>
            </a:r>
          </a:p>
        </p:txBody>
      </p:sp>
    </p:spTree>
    <p:extLst>
      <p:ext uri="{BB962C8B-B14F-4D97-AF65-F5344CB8AC3E}">
        <p14:creationId xmlns:p14="http://schemas.microsoft.com/office/powerpoint/2010/main" val="1249493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ABC4F400-4E30-46EA-A8D4-86576F29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THE GAP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FB02A84-6631-4F97-99CA-860357E9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AI 看得到重量，卻看不到背部支撐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4A10765E-FD7A-4E91-904D-9C123216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cz-name">
            <a:extLst xmlns:a="http://schemas.openxmlformats.org/drawingml/2006/main">
              <a:ext uri="{FF2B5EF4-FFF2-40B4-BE49-F238E27FC236}">
                <a16:creationId xmlns:a16="http://schemas.microsoft.com/office/drawing/2014/main" id="{6F5876E3-03ED-4B46-80F2-E2118E00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CabinZero Classic 36L</a:t>
            </a:r>
          </a:p>
        </p:txBody>
      </p:sp>
      <p:sp>
        <p:nvSpPr>
          <p:cNvPr id="5" name="cz-facts">
            <a:extLst xmlns:a="http://schemas.openxmlformats.org/drawingml/2006/main">
              <a:ext uri="{FF2B5EF4-FFF2-40B4-BE49-F238E27FC236}">
                <a16:creationId xmlns:a16="http://schemas.microsoft.com/office/drawing/2014/main" id="{67D87B8C-1D40-4296-8AF5-13E7DCC5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700g  ·  36L  ·  45×31×20cm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Cabin-sized  ·  £60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Shoulder Strap Air Flow System</a:t>
            </a:r>
          </a:p>
        </p:txBody>
      </p:sp>
      <p:sp>
        <p:nvSpPr>
          <p:cNvPr id="6" name="missing-panel">
            <a:extLst xmlns:a="http://schemas.openxmlformats.org/drawingml/2006/main">
              <a:ext uri="{FF2B5EF4-FFF2-40B4-BE49-F238E27FC236}">
                <a16:creationId xmlns:a16="http://schemas.microsoft.com/office/drawing/2014/main" id="{F9C9290C-AA6C-412D-B9A6-A7E0FAC5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issing-label">
            <a:extLst xmlns:a="http://schemas.openxmlformats.org/drawingml/2006/main">
              <a:ext uri="{FF2B5EF4-FFF2-40B4-BE49-F238E27FC236}">
                <a16:creationId xmlns:a16="http://schemas.microsoft.com/office/drawing/2014/main" id="{F4DEA4D4-A853-4C4F-B4CE-95A1EFFC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BACK SUPPORT</a:t>
            </a:r>
          </a:p>
        </p:txBody>
      </p:sp>
      <p:sp>
        <p:nvSpPr>
          <p:cNvPr id="8" name="missing-value">
            <a:extLst xmlns:a="http://schemas.openxmlformats.org/drawingml/2006/main">
              <a:ext uri="{FF2B5EF4-FFF2-40B4-BE49-F238E27FC236}">
                <a16:creationId xmlns:a16="http://schemas.microsoft.com/office/drawing/2014/main" id="{B3CD195D-A901-4483-BFCD-836CC8C0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60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?</a:t>
            </a:r>
          </a:p>
        </p:txBody>
      </p:sp>
      <p:sp>
        <p:nvSpPr>
          <p:cNvPr id="9" name="missing-caption">
            <a:extLst xmlns:a="http://schemas.openxmlformats.org/drawingml/2006/main">
              <a:ext uri="{FF2B5EF4-FFF2-40B4-BE49-F238E27FC236}">
                <a16:creationId xmlns:a16="http://schemas.microsoft.com/office/drawing/2014/main" id="{902C0E0D-5B1B-4063-A6AD-B388CBE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官方比較表的 Harness = 「–」</a:t>
            </a:r>
          </a:p>
        </p:txBody>
      </p:sp>
      <p:sp>
        <p:nvSpPr>
          <p:cNvPr id="10" name="divide">
            <a:extLst xmlns:a="http://schemas.openxmlformats.org/drawingml/2006/main">
              <a:ext uri="{FF2B5EF4-FFF2-40B4-BE49-F238E27FC236}">
                <a16:creationId xmlns:a16="http://schemas.microsoft.com/office/drawing/2014/main" id="{615C5B9B-8406-4A1D-8C12-5FD7BD77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sprey-name">
            <a:extLst xmlns:a="http://schemas.openxmlformats.org/drawingml/2006/main">
              <a:ext uri="{FF2B5EF4-FFF2-40B4-BE49-F238E27FC236}">
                <a16:creationId xmlns:a16="http://schemas.microsoft.com/office/drawing/2014/main" id="{39EFC4F0-20F5-4C5F-855D-56CFA40F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Osprey Farpoint 40</a:t>
            </a:r>
          </a:p>
        </p:txBody>
      </p:sp>
      <p:sp>
        <p:nvSpPr>
          <p:cNvPr id="12" name="osprey-facts">
            <a:extLst xmlns:a="http://schemas.openxmlformats.org/drawingml/2006/main">
              <a:ext uri="{FF2B5EF4-FFF2-40B4-BE49-F238E27FC236}">
                <a16:creationId xmlns:a16="http://schemas.microsoft.com/office/drawing/2014/main" id="{564086A1-DBCE-40AE-9D31-A0249DA4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AirScape ventilated backpanel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LightWire frame + framesheet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Load-bearing hipbelt</a:t>
            </a:r>
          </a:p>
        </p:txBody>
      </p:sp>
      <p:sp>
        <p:nvSpPr>
          <p:cNvPr id="13" name="meaning">
            <a:extLst xmlns:a="http://schemas.openxmlformats.org/drawingml/2006/main">
              <a:ext uri="{FF2B5EF4-FFF2-40B4-BE49-F238E27FC236}">
                <a16:creationId xmlns:a16="http://schemas.microsoft.com/office/drawing/2014/main" id="{5F3B96D6-F683-44F5-9AB9-8FF67375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不是產品一定不舒適；</a:t>
            </a:r>
          </a:p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是 AI 沒有可引用的支撐證據。</a:t>
            </a:r>
          </a:p>
        </p:txBody>
      </p:sp>
    </p:spTree>
    <p:extLst>
      <p:ext uri="{BB962C8B-B14F-4D97-AF65-F5344CB8AC3E}">
        <p14:creationId xmlns:p14="http://schemas.microsoft.com/office/powerpoint/2010/main" val="755623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3">
            <a:extLst xmlns:a="http://schemas.openxmlformats.org/drawingml/2006/main">
              <a:ext uri="{FF2B5EF4-FFF2-40B4-BE49-F238E27FC236}">
                <a16:creationId xmlns:a16="http://schemas.microsoft.com/office/drawing/2014/main" id="{18EA1B89-4FDD-46B8-B96B-0B62024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THE LOOP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F0C33E-41BB-4B0B-8C72-CC9EE0DE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從拒絕理由，走到可重跑的證據閉環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4AB5C0DE-E35A-4734-B177-62B0D928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line-1">
            <a:extLst xmlns:a="http://schemas.openxmlformats.org/drawingml/2006/main">
              <a:ext uri="{FF2B5EF4-FFF2-40B4-BE49-F238E27FC236}">
                <a16:creationId xmlns:a16="http://schemas.microsoft.com/office/drawing/2014/main" id="{40D8F0D7-033C-4FDF-8BE2-0AFC7C3C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ne-2">
            <a:extLst xmlns:a="http://schemas.openxmlformats.org/drawingml/2006/main">
              <a:ext uri="{FF2B5EF4-FFF2-40B4-BE49-F238E27FC236}">
                <a16:creationId xmlns:a16="http://schemas.microsoft.com/office/drawing/2014/main" id="{92A52B28-3514-47EE-AA78-2E26B6D0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C91440C8-8CB8-4810-8E64-5B8B8526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2C477A5C-2ED5-42F1-8682-A0396B84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診斷</a:t>
            </a:r>
          </a:p>
        </p:txBody>
      </p:sp>
      <p:sp>
        <p:nvSpPr>
          <p:cNvPr id="8" name="loop-body-0">
            <a:extLst xmlns:a="http://schemas.openxmlformats.org/drawingml/2006/main">
              <a:ext uri="{FF2B5EF4-FFF2-40B4-BE49-F238E27FC236}">
                <a16:creationId xmlns:a16="http://schemas.microsoft.com/office/drawing/2014/main" id="{1F0CA552-FDDC-490D-8B91-FA8ECA12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聚合 batch 決策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找出反覆出現的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attribute 缺口</a:t>
            </a:r>
          </a:p>
        </p:txBody>
      </p:sp>
      <p:sp>
        <p:nvSpPr>
          <p:cNvPr id="9" name="num-1">
            <a:extLst xmlns:a="http://schemas.openxmlformats.org/drawingml/2006/main">
              <a:ext uri="{FF2B5EF4-FFF2-40B4-BE49-F238E27FC236}">
                <a16:creationId xmlns:a16="http://schemas.microsoft.com/office/drawing/2014/main" id="{2DB6F362-F7CB-4D0C-B18D-E9142F85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751DA0E2-04E0-404F-93CF-7D9D7930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05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辯論</a:t>
            </a:r>
          </a:p>
        </p:txBody>
      </p:sp>
      <p:sp>
        <p:nvSpPr>
          <p:cNvPr id="11" name="loop-body-1">
            <a:extLst xmlns:a="http://schemas.openxmlformats.org/drawingml/2006/main">
              <a:ext uri="{FF2B5EF4-FFF2-40B4-BE49-F238E27FC236}">
                <a16:creationId xmlns:a16="http://schemas.microsoft.com/office/drawing/2014/main" id="{708CD02C-3842-4D82-BD82-62277AAB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用數字與 rejection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reason 回應質疑；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新資訊必須標來源</a:t>
            </a:r>
          </a:p>
        </p:txBody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BC641878-E125-4836-90EC-5391D96D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CE3BA0F9-7F3E-4AEA-92BB-D725F224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重跑</a:t>
            </a:r>
          </a:p>
        </p:txBody>
      </p:sp>
      <p:sp>
        <p:nvSpPr>
          <p:cNvPr id="14" name="loop-body-2">
            <a:extLst xmlns:a="http://schemas.openxmlformats.org/drawingml/2006/main">
              <a:ext uri="{FF2B5EF4-FFF2-40B4-BE49-F238E27FC236}">
                <a16:creationId xmlns:a16="http://schemas.microsoft.com/office/drawing/2014/main" id="{7D66DA5A-9E4A-47AD-9074-EBB32AE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建立 v2、固定 intents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與競品，只改頁面內容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再量 recommendation share</a:t>
            </a:r>
          </a:p>
        </p:txBody>
      </p:sp>
      <p:sp>
        <p:nvSpPr>
          <p:cNvPr id="15" name="loop-bottom">
            <a:extLst xmlns:a="http://schemas.openxmlformats.org/drawingml/2006/main">
              <a:ext uri="{FF2B5EF4-FFF2-40B4-BE49-F238E27FC236}">
                <a16:creationId xmlns:a16="http://schemas.microsoft.com/office/drawing/2014/main" id="{680A70DE-40DD-4904-9387-75F3F44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輸 → 解釋 → 提供新證據 → 驗證是否真的改變選擇</a:t>
            </a:r>
          </a:p>
        </p:txBody>
      </p:sp>
    </p:spTree>
    <p:extLst>
      <p:ext uri="{BB962C8B-B14F-4D97-AF65-F5344CB8AC3E}">
        <p14:creationId xmlns:p14="http://schemas.microsoft.com/office/powerpoint/2010/main" val="1908973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-4">
            <a:extLst xmlns:a="http://schemas.openxmlformats.org/drawingml/2006/main">
              <a:ext uri="{FF2B5EF4-FFF2-40B4-BE49-F238E27FC236}">
                <a16:creationId xmlns:a16="http://schemas.microsoft.com/office/drawing/2014/main" id="{F2C8C185-D734-486D-901C-E26BFDDE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CONTROLLED TEST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45D6DA8-2AF0-4F62-9789-B822DC62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頁面證據是唯一變因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7FB611EC-6AC1-4481-B73B-43369DF0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76250" y="1666875"/>
          <a:ext xmlns:a="http://schemas.openxmlformats.org/drawingml/2006/main" cx="6191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e818bdecde4d3e"/>
          </a:graphicData>
        </a:graphic>
      </p:graphicFrame>
      <p:sp>
        <p:nvSpPr>
          <p:cNvPr id="5" name="delta">
            <a:extLst xmlns:a="http://schemas.openxmlformats.org/drawingml/2006/main">
              <a:ext uri="{FF2B5EF4-FFF2-40B4-BE49-F238E27FC236}">
                <a16:creationId xmlns:a16="http://schemas.microsoft.com/office/drawing/2014/main" id="{D2F3AA0A-AAEA-445F-B100-C891E543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+43pp</a:t>
            </a:r>
          </a:p>
        </p:txBody>
      </p:sp>
      <p:sp>
        <p:nvSpPr>
          <p:cNvPr id="6" name="delta-copy">
            <a:extLst xmlns:a="http://schemas.openxmlformats.org/drawingml/2006/main">
              <a:ext uri="{FF2B5EF4-FFF2-40B4-BE49-F238E27FC236}">
                <a16:creationId xmlns:a16="http://schemas.microsoft.com/office/drawing/2014/main" id="{E0F6CA7F-8348-4486-86AF-BEB91B0D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956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cached fallback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12% → 55%</a:t>
            </a:r>
          </a:p>
        </p:txBody>
      </p:sp>
      <p:sp>
        <p:nvSpPr>
          <p:cNvPr id="7" name="warning">
            <a:extLst xmlns:a="http://schemas.openxmlformats.org/drawingml/2006/main">
              <a:ext uri="{FF2B5EF4-FFF2-40B4-BE49-F238E27FC236}">
                <a16:creationId xmlns:a16="http://schemas.microsoft.com/office/drawing/2014/main" id="{19D337C9-A594-45AD-9DD1-21CF6A50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arning-copy">
            <a:extLst xmlns:a="http://schemas.openxmlformats.org/drawingml/2006/main">
              <a:ext uri="{FF2B5EF4-FFF2-40B4-BE49-F238E27FC236}">
                <a16:creationId xmlns:a16="http://schemas.microsoft.com/office/drawing/2014/main" id="{3ADE4202-869E-4EB2-9A93-2AF8BECE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9577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這是 Contract reference fixture，</a:t>
            </a:r>
          </a:p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不是本 repo 的 live 量測。</a:t>
            </a:r>
          </a:p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正式驗收：n=40/side 且 Δ ≥ +20pp。</a:t>
            </a:r>
          </a:p>
        </p:txBody>
      </p:sp>
    </p:spTree>
    <p:extLst>
      <p:ext uri="{BB962C8B-B14F-4D97-AF65-F5344CB8AC3E}">
        <p14:creationId xmlns:p14="http://schemas.microsoft.com/office/powerpoint/2010/main" val="667822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29C43178-655C-40E1-A9CB-2F3D0E0A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THE PROMISE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345EB3E-366C-4869-9E22-1188E529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076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不是替品牌寫漂亮文案，</a:t>
            </a:r>
          </a:p>
          <a:p xmlns:a="http://schemas.openxmlformats.org/drawingml/2006/main">
            <a:pPr algn="l">
              <a:defRPr sz="4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而是讓每個改動都能被驗證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19B3624C-F9A7-4376-9BAA-7A4DBDA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h-0">
            <a:extLst xmlns:a="http://schemas.openxmlformats.org/drawingml/2006/main">
              <a:ext uri="{FF2B5EF4-FFF2-40B4-BE49-F238E27FC236}">
                <a16:creationId xmlns:a16="http://schemas.microsoft.com/office/drawing/2014/main" id="{09CE16AE-0903-4584-96BC-4371F3F5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可追溯</a:t>
            </a:r>
          </a:p>
        </p:txBody>
      </p:sp>
      <p:sp>
        <p:nvSpPr>
          <p:cNvPr id="5" name="close-b-0">
            <a:extLst xmlns:a="http://schemas.openxmlformats.org/drawingml/2006/main">
              <a:ext uri="{FF2B5EF4-FFF2-40B4-BE49-F238E27FC236}">
                <a16:creationId xmlns:a16="http://schemas.microsoft.com/office/drawing/2014/main" id="{2C6D8B6F-E70C-4A08-8566-5B59947C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4 個官方產品頁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每個 evidence 回到 raw_text</a:t>
            </a:r>
          </a:p>
        </p:txBody>
      </p:sp>
      <p:sp>
        <p:nvSpPr>
          <p:cNvPr id="6" name="close-h-1">
            <a:extLst xmlns:a="http://schemas.openxmlformats.org/drawingml/2006/main">
              <a:ext uri="{FF2B5EF4-FFF2-40B4-BE49-F238E27FC236}">
                <a16:creationId xmlns:a16="http://schemas.microsoft.com/office/drawing/2014/main" id="{697E081E-DE10-406E-BAF1-1CA2AAA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528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可辯論</a:t>
            </a:r>
          </a:p>
        </p:txBody>
      </p:sp>
      <p:sp>
        <p:nvSpPr>
          <p:cNvPr id="7" name="close-b-1">
            <a:extLst xmlns:a="http://schemas.openxmlformats.org/drawingml/2006/main">
              <a:ext uri="{FF2B5EF4-FFF2-40B4-BE49-F238E27FC236}">
                <a16:creationId xmlns:a16="http://schemas.microsoft.com/office/drawing/2014/main" id="{2E85B091-1894-476F-ACAD-5F26E61D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243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每回合引用數字或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真實 rejection reason</a:t>
            </a:r>
          </a:p>
        </p:txBody>
      </p:sp>
      <p:sp>
        <p:nvSpPr>
          <p:cNvPr id="8" name="close-h-2">
            <a:extLst xmlns:a="http://schemas.openxmlformats.org/drawingml/2006/main">
              <a:ext uri="{FF2B5EF4-FFF2-40B4-BE49-F238E27FC236}">
                <a16:creationId xmlns:a16="http://schemas.microsoft.com/office/drawing/2014/main" id="{C4C41149-56F5-4BF1-A0BE-C36C631A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528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可重跑</a:t>
            </a:r>
          </a:p>
        </p:txBody>
      </p:sp>
      <p:sp>
        <p:nvSpPr>
          <p:cNvPr id="9" name="close-b-2">
            <a:extLst xmlns:a="http://schemas.openxmlformats.org/drawingml/2006/main">
              <a:ext uri="{FF2B5EF4-FFF2-40B4-BE49-F238E27FC236}">
                <a16:creationId xmlns:a16="http://schemas.microsoft.com/office/drawing/2014/main" id="{15177C05-030D-4309-8D36-041A682C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同一引擎與 intents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只換頁面版本</a:t>
            </a:r>
          </a:p>
        </p:txBody>
      </p:sp>
      <p:sp>
        <p:nvSpPr>
          <p:cNvPr id="10" name="close-final">
            <a:extLst xmlns:a="http://schemas.openxmlformats.org/drawingml/2006/main">
              <a:ext uri="{FF2B5EF4-FFF2-40B4-BE49-F238E27FC236}">
                <a16:creationId xmlns:a16="http://schemas.microsoft.com/office/drawing/2014/main" id="{53DE711C-5F29-4912-A0D6-A9B5F86B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讓 AI 看見產品真正能證明的優點。</a:t>
            </a:r>
          </a:p>
        </p:txBody>
      </p:sp>
      <p:sp>
        <p:nvSpPr>
          <p:cNvPr id="11" name="page-5">
            <a:extLst xmlns:a="http://schemas.openxmlformats.org/drawingml/2006/main">
              <a:ext uri="{FF2B5EF4-FFF2-40B4-BE49-F238E27FC236}">
                <a16:creationId xmlns:a16="http://schemas.microsoft.com/office/drawing/2014/main" id="{18DC5714-1D46-47B9-8C75-AF21D3FC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F667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71570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2026-08-15T03:24:47.1150000Z</dcterms:created>
  <dcterms:modified xsi:type="dcterms:W3CDTF">2026-08-15T03:24:47.1150000Z</dcterms:modified>
</coreProperties>
</file>